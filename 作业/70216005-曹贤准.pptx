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8288000" cy="10287000"/>
  <p:notesSz cx="6858000" cy="9144000"/>
  <p:embeddedFontLst>
    <p:embeddedFont>
      <p:font typeface="Black Han Sans" panose="020B0600000101010101" charset="-127"/>
      <p:regular r:id="rId12"/>
    </p:embeddedFont>
    <p:embeddedFont>
      <p:font typeface="Alegreya Bold" panose="020B0600000101010101" charset="0"/>
      <p:regular r:id="rId13"/>
    </p:embeddedFont>
    <p:embeddedFont>
      <p:font typeface="Bobby Jones" panose="020B0600000101010101" charset="0"/>
      <p:regular r:id="rId14"/>
    </p:embeddedFont>
    <p:embeddedFont>
      <p:font typeface="Montserrat Light Bold" panose="020B0600000101010101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761580" y="3027933"/>
            <a:ext cx="14764841" cy="244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53"/>
              </a:lnSpc>
            </a:pPr>
            <a:r>
              <a:rPr lang="en-US" sz="14038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C，Java符号表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07841" y="6074501"/>
            <a:ext cx="7248833" cy="56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9"/>
              </a:lnSpc>
            </a:pPr>
            <a:r>
              <a:rPr lang="en-US" sz="3292" b="1">
                <a:solidFill>
                  <a:srgbClr val="000000"/>
                </a:solidFill>
                <a:latin typeface="Alegreya Bold"/>
                <a:ea typeface="Alegreya Bold"/>
                <a:cs typeface="Alegreya Bold"/>
                <a:sym typeface="Alegreya Bold"/>
              </a:rPr>
              <a:t>70216005-曹贤准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978052" y="2879312"/>
            <a:ext cx="14331896" cy="6093238"/>
            <a:chOff x="0" y="0"/>
            <a:chExt cx="3774656" cy="16048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4656" cy="1604803"/>
            </a:xfrm>
            <a:custGeom>
              <a:avLst/>
              <a:gdLst/>
              <a:ahLst/>
              <a:cxnLst/>
              <a:rect l="l" t="t" r="r" b="b"/>
              <a:pathLst>
                <a:path w="3774656" h="1604803">
                  <a:moveTo>
                    <a:pt x="27550" y="0"/>
                  </a:moveTo>
                  <a:lnTo>
                    <a:pt x="3747106" y="0"/>
                  </a:lnTo>
                  <a:cubicBezTo>
                    <a:pt x="3754413" y="0"/>
                    <a:pt x="3761420" y="2903"/>
                    <a:pt x="3766586" y="8069"/>
                  </a:cubicBezTo>
                  <a:cubicBezTo>
                    <a:pt x="3771753" y="13236"/>
                    <a:pt x="3774656" y="20243"/>
                    <a:pt x="3774656" y="27550"/>
                  </a:cubicBezTo>
                  <a:lnTo>
                    <a:pt x="3774656" y="1577254"/>
                  </a:lnTo>
                  <a:cubicBezTo>
                    <a:pt x="3774656" y="1592469"/>
                    <a:pt x="3762321" y="1604803"/>
                    <a:pt x="3747106" y="1604803"/>
                  </a:cubicBezTo>
                  <a:lnTo>
                    <a:pt x="27550" y="1604803"/>
                  </a:lnTo>
                  <a:cubicBezTo>
                    <a:pt x="20243" y="1604803"/>
                    <a:pt x="13236" y="1601901"/>
                    <a:pt x="8069" y="1596734"/>
                  </a:cubicBezTo>
                  <a:cubicBezTo>
                    <a:pt x="2903" y="1591568"/>
                    <a:pt x="0" y="1584560"/>
                    <a:pt x="0" y="1577254"/>
                  </a:cubicBezTo>
                  <a:lnTo>
                    <a:pt x="0" y="27550"/>
                  </a:lnTo>
                  <a:cubicBezTo>
                    <a:pt x="0" y="20243"/>
                    <a:pt x="2903" y="13236"/>
                    <a:pt x="8069" y="8069"/>
                  </a:cubicBezTo>
                  <a:cubicBezTo>
                    <a:pt x="13236" y="2903"/>
                    <a:pt x="20243" y="0"/>
                    <a:pt x="275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74656" cy="1642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78497" y="3404441"/>
            <a:ext cx="13245739" cy="471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0"/>
              </a:lnSpc>
            </a:pPr>
            <a:r>
              <a:rPr lang="en-US" sz="3829" b="1">
                <a:solidFill>
                  <a:srgbClr val="000000"/>
                </a:solidFill>
                <a:latin typeface="Alegreya Bold"/>
                <a:ea typeface="Alegreya Bold"/>
                <a:cs typeface="Alegreya Bold"/>
                <a:sym typeface="Alegreya Bold"/>
              </a:rPr>
              <a:t>C语言的符号表主要存储变量名、数据类型和内存地址，结构相对简单。作为一种过程式编程语言，C程序由函数和代码块按顺序执行，变量的作用域根据声明位置分为全局或局部，按块级管理。在函数参数处理方面，C语言默认采用值传递，函数调用时会创建参数的副本供函数内部使用。如果需要在函数内部修改原始变量，需要通过指针传递变量的地址，以实现引用效果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18390" y="676275"/>
            <a:ext cx="10451219" cy="160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 符号表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28090" y="3049012"/>
            <a:ext cx="15031821" cy="5074721"/>
            <a:chOff x="0" y="0"/>
            <a:chExt cx="20042427" cy="676629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064624"/>
              <a:ext cx="9669178" cy="5701671"/>
              <a:chOff x="0" y="0"/>
              <a:chExt cx="1909961" cy="1126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4095" y="1609663"/>
              <a:ext cx="8700987" cy="4149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void increment(int *num) {</a:t>
              </a:r>
            </a:p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    (*num)++;</a:t>
              </a:r>
            </a:p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}</a:t>
              </a:r>
            </a:p>
            <a:p>
              <a:pPr algn="l">
                <a:lnSpc>
                  <a:spcPts val="6290"/>
                </a:lnSpc>
              </a:pPr>
              <a:endParaRPr lang="en-US" sz="4493" b="1">
                <a:solidFill>
                  <a:srgbClr val="000000"/>
                </a:solidFill>
                <a:latin typeface="Alegreya Bold"/>
                <a:ea typeface="Alegreya Bold"/>
                <a:cs typeface="Alegreya Bold"/>
                <a:sym typeface="Alegreya Bold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373250" y="1064624"/>
              <a:ext cx="9669178" cy="5701671"/>
              <a:chOff x="0" y="0"/>
              <a:chExt cx="1909961" cy="11262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857345" y="1647763"/>
              <a:ext cx="8700987" cy="4835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0"/>
                </a:lnSpc>
              </a:pPr>
              <a:r>
                <a:rPr lang="en-US" sz="29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如果想在函数内部修改原始变量的值，需要传递变量的地址，也就是使用指针。在示例中，void increment(int *num)函数接受一个int类型的指针num，通过(*num)++解引用指针并增加其值，从而直接修改了传入变量的实际值。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751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示例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16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说明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18390" y="857250"/>
            <a:ext cx="10451219" cy="142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C 符号表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978052" y="2879312"/>
            <a:ext cx="14331896" cy="6093238"/>
            <a:chOff x="0" y="0"/>
            <a:chExt cx="3774656" cy="16048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4656" cy="1604803"/>
            </a:xfrm>
            <a:custGeom>
              <a:avLst/>
              <a:gdLst/>
              <a:ahLst/>
              <a:cxnLst/>
              <a:rect l="l" t="t" r="r" b="b"/>
              <a:pathLst>
                <a:path w="3774656" h="1604803">
                  <a:moveTo>
                    <a:pt x="27550" y="0"/>
                  </a:moveTo>
                  <a:lnTo>
                    <a:pt x="3747106" y="0"/>
                  </a:lnTo>
                  <a:cubicBezTo>
                    <a:pt x="3754413" y="0"/>
                    <a:pt x="3761420" y="2903"/>
                    <a:pt x="3766586" y="8069"/>
                  </a:cubicBezTo>
                  <a:cubicBezTo>
                    <a:pt x="3771753" y="13236"/>
                    <a:pt x="3774656" y="20243"/>
                    <a:pt x="3774656" y="27550"/>
                  </a:cubicBezTo>
                  <a:lnTo>
                    <a:pt x="3774656" y="1577254"/>
                  </a:lnTo>
                  <a:cubicBezTo>
                    <a:pt x="3774656" y="1592469"/>
                    <a:pt x="3762321" y="1604803"/>
                    <a:pt x="3747106" y="1604803"/>
                  </a:cubicBezTo>
                  <a:lnTo>
                    <a:pt x="27550" y="1604803"/>
                  </a:lnTo>
                  <a:cubicBezTo>
                    <a:pt x="20243" y="1604803"/>
                    <a:pt x="13236" y="1601901"/>
                    <a:pt x="8069" y="1596734"/>
                  </a:cubicBezTo>
                  <a:cubicBezTo>
                    <a:pt x="2903" y="1591568"/>
                    <a:pt x="0" y="1584560"/>
                    <a:pt x="0" y="1577254"/>
                  </a:cubicBezTo>
                  <a:lnTo>
                    <a:pt x="0" y="27550"/>
                  </a:lnTo>
                  <a:cubicBezTo>
                    <a:pt x="0" y="20243"/>
                    <a:pt x="2903" y="13236"/>
                    <a:pt x="8069" y="8069"/>
                  </a:cubicBezTo>
                  <a:cubicBezTo>
                    <a:pt x="13236" y="2903"/>
                    <a:pt x="20243" y="0"/>
                    <a:pt x="275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74656" cy="1642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78497" y="3404441"/>
            <a:ext cx="13245739" cy="53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0"/>
              </a:lnSpc>
            </a:pPr>
            <a:r>
              <a:rPr lang="en-US" sz="3829" b="1">
                <a:solidFill>
                  <a:srgbClr val="000000"/>
                </a:solidFill>
                <a:latin typeface="Alegreya Bold"/>
                <a:ea typeface="Alegreya Bold"/>
                <a:cs typeface="Alegreya Bold"/>
                <a:sym typeface="Alegreya Bold"/>
              </a:rPr>
              <a:t>Java的符号表结构复杂，管理着类、方法、变量、接口等多种元素，以支持继承和多态等面向对象的概念。作为面向对象的编程语言，Java的程序基于类和对象构建。通过包和命名空间，Java组织类和接口，防止命名冲突。在函数（方法）参数处理方面，Java也是采用值传递。对于基本类型（如`int`、`double`），实际的值被复制。而对于引用类型，对象的引用被复制，因此即使在方法内部将引用指向新的对象，原对象也不受影响，但如果修改引用对象的字段值，原对象会受到影响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18390" y="676275"/>
            <a:ext cx="10451219" cy="160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JAVA 符号表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28090" y="3049012"/>
            <a:ext cx="15031821" cy="5255062"/>
            <a:chOff x="0" y="0"/>
            <a:chExt cx="20042427" cy="700675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064624"/>
              <a:ext cx="9669178" cy="5701671"/>
              <a:chOff x="0" y="0"/>
              <a:chExt cx="1909961" cy="1126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4095" y="1628713"/>
              <a:ext cx="8700987" cy="5378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10"/>
                </a:lnSpc>
              </a:pPr>
              <a:r>
                <a:rPr lang="en-US" sz="32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void modifyObject(MyClass obj) {</a:t>
              </a:r>
            </a:p>
            <a:p>
              <a:pPr algn="l">
                <a:lnSpc>
                  <a:spcPts val="4610"/>
                </a:lnSpc>
              </a:pPr>
              <a:r>
                <a:rPr lang="en-US" sz="32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    obj.field = 10; // 原对象的字段值被修改</a:t>
              </a:r>
            </a:p>
            <a:p>
              <a:pPr algn="l">
                <a:lnSpc>
                  <a:spcPts val="4610"/>
                </a:lnSpc>
              </a:pPr>
              <a:r>
                <a:rPr lang="en-US" sz="32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    obj = new MyClass(); // 原对象的引用不受影响</a:t>
              </a:r>
            </a:p>
            <a:p>
              <a:pPr algn="l">
                <a:lnSpc>
                  <a:spcPts val="4610"/>
                </a:lnSpc>
              </a:pPr>
              <a:r>
                <a:rPr lang="en-US" sz="32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}</a:t>
              </a:r>
            </a:p>
            <a:p>
              <a:pPr algn="l">
                <a:lnSpc>
                  <a:spcPts val="4610"/>
                </a:lnSpc>
              </a:pPr>
              <a:endParaRPr lang="en-US" sz="3293" b="1">
                <a:solidFill>
                  <a:srgbClr val="000000"/>
                </a:solidFill>
                <a:latin typeface="Alegreya Bold"/>
                <a:ea typeface="Alegreya Bold"/>
                <a:cs typeface="Alegreya Bold"/>
                <a:sym typeface="Alegreya Bold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373250" y="1064624"/>
              <a:ext cx="9669178" cy="5701671"/>
              <a:chOff x="0" y="0"/>
              <a:chExt cx="1909961" cy="11262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857345" y="1647763"/>
              <a:ext cx="8700987" cy="4401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0"/>
                </a:lnSpc>
              </a:pPr>
              <a:r>
                <a:rPr lang="en-US" sz="26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在示例中，modifyObject 方法接受一个 MyClass 类型的对象引用 obj。通过 obj.field = 10;，我们修改了 obj 所指向对象的字段值，因此原始对象的字段值也被修改。但是，当执行 obj = new MyClass(); 时，我们只是改变了本地变量 obj 的引用，使其指向一个新的对象，这并不影响原始对象的引用。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751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示例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16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说明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18390" y="857250"/>
            <a:ext cx="10451219" cy="142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JAVA 符号表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918390" y="857250"/>
            <a:ext cx="10451219" cy="142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C和Java的比较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638946" y="3951164"/>
            <a:ext cx="7980017" cy="2384672"/>
            <a:chOff x="0" y="0"/>
            <a:chExt cx="10640022" cy="3179563"/>
          </a:xfrm>
        </p:grpSpPr>
        <p:sp>
          <p:nvSpPr>
            <p:cNvPr id="5" name="TextBox 5"/>
            <p:cNvSpPr txBox="1"/>
            <p:nvPr/>
          </p:nvSpPr>
          <p:spPr>
            <a:xfrm>
              <a:off x="0" y="-247650"/>
              <a:ext cx="7753367" cy="3427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16322" lvl="1" indent="-408161" algn="l">
                <a:lnSpc>
                  <a:spcPts val="7183"/>
                </a:lnSpc>
                <a:buAutoNum type="arabicPeriod"/>
              </a:pPr>
              <a:r>
                <a:rPr lang="en-US" sz="3781" b="1" spc="604">
                  <a:solidFill>
                    <a:srgbClr val="000000"/>
                  </a:solidFill>
                  <a:latin typeface="Montserrat Light Bold"/>
                  <a:ea typeface="Montserrat Light Bold"/>
                  <a:cs typeface="Montserrat Light Bold"/>
                  <a:sym typeface="Montserrat Light Bold"/>
                </a:rPr>
                <a:t>复杂性</a:t>
              </a:r>
            </a:p>
            <a:p>
              <a:pPr marL="816322" lvl="1" indent="-408161" algn="l">
                <a:lnSpc>
                  <a:spcPts val="7183"/>
                </a:lnSpc>
                <a:buAutoNum type="arabicPeriod"/>
              </a:pPr>
              <a:r>
                <a:rPr lang="en-US" sz="3781" b="1" spc="604">
                  <a:solidFill>
                    <a:srgbClr val="000000"/>
                  </a:solidFill>
                  <a:latin typeface="Montserrat Light Bold"/>
                  <a:ea typeface="Montserrat Light Bold"/>
                  <a:cs typeface="Montserrat Light Bold"/>
                  <a:sym typeface="Montserrat Light Bold"/>
                </a:rPr>
                <a:t>函数参数传递方式</a:t>
              </a:r>
            </a:p>
            <a:p>
              <a:pPr marL="816322" lvl="1" indent="-408161" algn="l">
                <a:lnSpc>
                  <a:spcPts val="7183"/>
                </a:lnSpc>
                <a:buAutoNum type="arabicPeriod"/>
              </a:pPr>
              <a:r>
                <a:rPr lang="en-US" sz="3781" b="1" spc="604">
                  <a:solidFill>
                    <a:srgbClr val="000000"/>
                  </a:solidFill>
                  <a:latin typeface="Montserrat Light Bold"/>
                  <a:ea typeface="Montserrat Light Bold"/>
                  <a:cs typeface="Montserrat Light Bold"/>
                  <a:sym typeface="Montserrat Light Bold"/>
                </a:rPr>
                <a:t>内存管理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95825" y="-247650"/>
              <a:ext cx="2244198" cy="98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718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28090" y="3049012"/>
            <a:ext cx="15031821" cy="5074721"/>
            <a:chOff x="0" y="0"/>
            <a:chExt cx="20042427" cy="676629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064624"/>
              <a:ext cx="9669178" cy="5701671"/>
              <a:chOff x="0" y="0"/>
              <a:chExt cx="1909961" cy="1126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4095" y="1609663"/>
              <a:ext cx="8700987" cy="3095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符号表结构比较简单，主要管理函数和变量的作用域以及链接信息。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373250" y="1064624"/>
              <a:ext cx="9669178" cy="5701671"/>
              <a:chOff x="0" y="0"/>
              <a:chExt cx="1909961" cy="11262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857345" y="1609663"/>
              <a:ext cx="8700987" cy="3095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由于类的继承结构、接口实现和包的组织等因素，符号表更为复杂。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751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C语言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16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Java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18390" y="857250"/>
            <a:ext cx="10451219" cy="142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符号表的复杂性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28090" y="3049012"/>
            <a:ext cx="15031821" cy="5074721"/>
            <a:chOff x="0" y="0"/>
            <a:chExt cx="20042427" cy="676629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064624"/>
              <a:ext cx="9669178" cy="5701671"/>
              <a:chOff x="0" y="0"/>
              <a:chExt cx="1909961" cy="1126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4095" y="1609663"/>
              <a:ext cx="8700987" cy="3095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默认采用值传递，通过使用指针可以实现类似引用传递的效果。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373250" y="1064624"/>
              <a:ext cx="9669178" cy="5701671"/>
              <a:chOff x="0" y="0"/>
              <a:chExt cx="1909961" cy="11262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857345" y="1609663"/>
              <a:ext cx="8700987" cy="3095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86"/>
                </a:lnSpc>
              </a:pPr>
              <a:r>
                <a:rPr lang="en-US" sz="4490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始终是值传递，但由于对象引用被复制，看起来像是引用传递。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751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C语言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16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Java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18390" y="857250"/>
            <a:ext cx="10451219" cy="142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函数参数传递方式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628090" y="3049012"/>
            <a:ext cx="15031821" cy="5074721"/>
            <a:chOff x="0" y="0"/>
            <a:chExt cx="20042427" cy="676629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064624"/>
              <a:ext cx="9669178" cy="5701671"/>
              <a:chOff x="0" y="0"/>
              <a:chExt cx="1909961" cy="1126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4095" y="1609663"/>
              <a:ext cx="8700987" cy="3095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开发者需要手动管理内存，手动进行动态内存的分配和释放。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373250" y="1064624"/>
              <a:ext cx="9669178" cy="5701671"/>
              <a:chOff x="0" y="0"/>
              <a:chExt cx="1909961" cy="11262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09961" cy="1126256"/>
              </a:xfrm>
              <a:custGeom>
                <a:avLst/>
                <a:gdLst/>
                <a:ahLst/>
                <a:cxnLst/>
                <a:rect l="l" t="t" r="r" b="b"/>
                <a:pathLst>
                  <a:path w="1909961" h="1126256">
                    <a:moveTo>
                      <a:pt x="54446" y="0"/>
                    </a:moveTo>
                    <a:lnTo>
                      <a:pt x="1855515" y="0"/>
                    </a:lnTo>
                    <a:cubicBezTo>
                      <a:pt x="1869955" y="0"/>
                      <a:pt x="1883804" y="5736"/>
                      <a:pt x="1894014" y="15947"/>
                    </a:cubicBezTo>
                    <a:cubicBezTo>
                      <a:pt x="1904225" y="26158"/>
                      <a:pt x="1909961" y="40006"/>
                      <a:pt x="1909961" y="54446"/>
                    </a:cubicBezTo>
                    <a:lnTo>
                      <a:pt x="1909961" y="1071810"/>
                    </a:lnTo>
                    <a:cubicBezTo>
                      <a:pt x="1909961" y="1101880"/>
                      <a:pt x="1885585" y="1126256"/>
                      <a:pt x="1855515" y="1126256"/>
                    </a:cubicBezTo>
                    <a:lnTo>
                      <a:pt x="54446" y="1126256"/>
                    </a:lnTo>
                    <a:cubicBezTo>
                      <a:pt x="40006" y="1126256"/>
                      <a:pt x="26158" y="1120520"/>
                      <a:pt x="15947" y="1110309"/>
                    </a:cubicBezTo>
                    <a:cubicBezTo>
                      <a:pt x="5736" y="1100098"/>
                      <a:pt x="0" y="1086250"/>
                      <a:pt x="0" y="1071810"/>
                    </a:cubicBezTo>
                    <a:lnTo>
                      <a:pt x="0" y="54446"/>
                    </a:lnTo>
                    <a:cubicBezTo>
                      <a:pt x="0" y="40006"/>
                      <a:pt x="5736" y="26158"/>
                      <a:pt x="15947" y="15947"/>
                    </a:cubicBezTo>
                    <a:cubicBezTo>
                      <a:pt x="26158" y="5736"/>
                      <a:pt x="40006" y="0"/>
                      <a:pt x="54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909961" cy="1164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857345" y="1609663"/>
              <a:ext cx="8700987" cy="2041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0"/>
                </a:lnSpc>
              </a:pPr>
              <a:r>
                <a:rPr lang="en-US" sz="4493" b="1">
                  <a:solidFill>
                    <a:srgbClr val="000000"/>
                  </a:solidFill>
                  <a:latin typeface="Alegreya Bold"/>
                  <a:ea typeface="Alegreya Bold"/>
                  <a:cs typeface="Alegreya Bold"/>
                  <a:sym typeface="Alegreya Bold"/>
                </a:rPr>
                <a:t>通过垃圾回收机制自动管理内存，无需手动释放。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751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C语言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168" y="-123825"/>
              <a:ext cx="9277341" cy="1232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</a:pPr>
              <a:r>
                <a:rPr lang="en-US" sz="5499">
                  <a:solidFill>
                    <a:srgbClr val="000000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Java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18390" y="857250"/>
            <a:ext cx="10451219" cy="142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内存管理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-9510" r="-1696" b="-1120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2616729" y="3509275"/>
            <a:ext cx="13054542" cy="29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0"/>
              </a:lnSpc>
            </a:pPr>
            <a:r>
              <a:rPr lang="en-US" sz="16721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사용자 지정</PresentationFormat>
  <Paragraphs>41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Alegreya Bold</vt:lpstr>
      <vt:lpstr>Bobby Jones</vt:lpstr>
      <vt:lpstr>Montserrat Light Bold</vt:lpstr>
      <vt:lpstr>Black Han Sans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Black Simple Cute Group Project Presentation</dc:title>
  <cp:lastModifiedBy>AA10313</cp:lastModifiedBy>
  <cp:revision>2</cp:revision>
  <dcterms:created xsi:type="dcterms:W3CDTF">2006-08-16T00:00:00Z</dcterms:created>
  <dcterms:modified xsi:type="dcterms:W3CDTF">2024-09-26T08:23:48Z</dcterms:modified>
  <dc:identifier>DAGPMes7WB0</dc:identifier>
</cp:coreProperties>
</file>